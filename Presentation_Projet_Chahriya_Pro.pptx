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35336"/>
            <a:ext cx="9144000" cy="760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145" b="1" spc="-1" kern="0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Chahriya Pro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0" y="2396170"/>
            <a:ext cx="91440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 Finances Personnelles Moderne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914400" y="3660614"/>
            <a:ext cx="3657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PRÉSENTÉ PAR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914400" y="3982083"/>
            <a:ext cx="365760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Ammar Rayen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572000" y="3660614"/>
            <a:ext cx="3657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LA DIRECTION DE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572000" y="3982083"/>
            <a:ext cx="365760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Mme Marwa Zitouni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2475309" y="4736306"/>
            <a:ext cx="41933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SOUTENANCE DE PROJET DE DÉVELOPPEMENT MOBILE MAUI • 2026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Problématique et Objectifs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742950" y="2069818"/>
            <a:ext cx="34718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Problématique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42950" y="2516302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Difficulté de suivi des dépenses quotidiennes en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réel.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2950" y="3080658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Manque de visibilité sur l'équilibre financier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mensuel.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2950" y="3645015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d'outils simples et adaptés au contexte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2950" y="2516302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42950" y="3080658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42950" y="3645015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957763" y="2069818"/>
            <a:ext cx="34718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C85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Objectifs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957763" y="2516302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Développer une application mobile performante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.NET MAUI.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57763" y="3080658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Offrir une interface premium facilitant la gestion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flux.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57763" y="3645015"/>
            <a:ext cx="3471863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Implémenter un historique mensuel pour une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claire.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57763" y="2516302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957763" y="3080658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957763" y="3645015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Besoins du Système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571500" y="1784068"/>
            <a:ext cx="389334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Besoins Fonctionnels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750094" y="2330565"/>
            <a:ext cx="3714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Flux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750094" y="2648462"/>
            <a:ext cx="37147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Saisie et modification des revenus et dépenses quotidiennes.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50094" y="3367078"/>
            <a:ext cx="36754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du Solde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750094" y="3684975"/>
            <a:ext cx="367545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automatique et affichage en temps réel du solde total.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50094" y="4230021"/>
            <a:ext cx="3714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 Mensuel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750094" y="4547918"/>
            <a:ext cx="37147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Groupement intelligent des transactions par période mensuelle.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679156" y="1784068"/>
            <a:ext cx="389334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C85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Besoins Non Fonctionnels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857750" y="2330565"/>
            <a:ext cx="3714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Premium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4857750" y="2648462"/>
            <a:ext cx="37147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ultra-moderne avec thème sombre et typographie élégante.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857750" y="3367078"/>
            <a:ext cx="3714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857750" y="3684975"/>
            <a:ext cx="3714750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de réponse immédiat via la gestion asynchrone (async/await).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857750" y="4403592"/>
            <a:ext cx="36254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Robustesse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4857750" y="4721489"/>
            <a:ext cx="362545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clean, structuré et absence d'erreurs de déploiement.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Architecture : Le Pattern MVVM</a:t>
            </a:r>
            <a:endParaRPr lang="en-US" sz="2755" dirty="0"/>
          </a:p>
        </p:txBody>
      </p:sp>
      <p:sp>
        <p:nvSpPr>
          <p:cNvPr id="6" name="Shape 3"/>
          <p:cNvSpPr/>
          <p:nvPr/>
        </p:nvSpPr>
        <p:spPr>
          <a:xfrm>
            <a:off x="571500" y="1737215"/>
            <a:ext cx="2388691" cy="214870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37215"/>
            <a:ext cx="2388691" cy="21431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89" y="1978316"/>
            <a:ext cx="214313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375" y="2464008"/>
            <a:ext cx="21029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View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714375" y="2844412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XAML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14375" y="3098713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Ressources graphiques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714375" y="3353014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(AppShell)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3138785" y="1737215"/>
            <a:ext cx="2866430" cy="214870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0"/>
          <p:cNvSpPr/>
          <p:nvPr/>
        </p:nvSpPr>
        <p:spPr>
          <a:xfrm>
            <a:off x="3138785" y="1737215"/>
            <a:ext cx="2866430" cy="21431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5" name="Text 11"/>
          <p:cNvSpPr/>
          <p:nvPr/>
        </p:nvSpPr>
        <p:spPr>
          <a:xfrm>
            <a:off x="714375" y="284441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714375" y="3098713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714375" y="3353014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978316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81660" y="2464008"/>
            <a:ext cx="258068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C85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ViewModel</a:t>
            </a:r>
            <a:endParaRPr lang="en-US" sz="1397" dirty="0"/>
          </a:p>
        </p:txBody>
      </p:sp>
      <p:sp>
        <p:nvSpPr>
          <p:cNvPr id="20" name="Text 15"/>
          <p:cNvSpPr/>
          <p:nvPr/>
        </p:nvSpPr>
        <p:spPr>
          <a:xfrm>
            <a:off x="3281660" y="2844412"/>
            <a:ext cx="2580680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3281660" y="3098713"/>
            <a:ext cx="2580680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Liaison de données (Binding)</a:t>
            </a:r>
            <a:endParaRPr lang="en-US" sz="834" dirty="0"/>
          </a:p>
        </p:txBody>
      </p:sp>
      <p:sp>
        <p:nvSpPr>
          <p:cNvPr id="22" name="Text 17"/>
          <p:cNvSpPr/>
          <p:nvPr/>
        </p:nvSpPr>
        <p:spPr>
          <a:xfrm>
            <a:off x="3281660" y="3353014"/>
            <a:ext cx="2580680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commandes</a:t>
            </a:r>
            <a:endParaRPr lang="en-US" sz="834" dirty="0"/>
          </a:p>
        </p:txBody>
      </p:sp>
      <p:sp>
        <p:nvSpPr>
          <p:cNvPr id="23" name="Shape 18"/>
          <p:cNvSpPr/>
          <p:nvPr/>
        </p:nvSpPr>
        <p:spPr>
          <a:xfrm>
            <a:off x="6183809" y="1737215"/>
            <a:ext cx="2388691" cy="214870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19"/>
          <p:cNvSpPr/>
          <p:nvPr/>
        </p:nvSpPr>
        <p:spPr>
          <a:xfrm>
            <a:off x="6183809" y="1737215"/>
            <a:ext cx="2388691" cy="21431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Text 20"/>
          <p:cNvSpPr/>
          <p:nvPr/>
        </p:nvSpPr>
        <p:spPr>
          <a:xfrm>
            <a:off x="3281660" y="284441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26" name="Text 21"/>
          <p:cNvSpPr/>
          <p:nvPr/>
        </p:nvSpPr>
        <p:spPr>
          <a:xfrm>
            <a:off x="3281660" y="3098713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27" name="Text 22"/>
          <p:cNvSpPr/>
          <p:nvPr/>
        </p:nvSpPr>
        <p:spPr>
          <a:xfrm>
            <a:off x="3281660" y="3353014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139" y="1978316"/>
            <a:ext cx="250031" cy="2857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26684" y="2464008"/>
            <a:ext cx="21029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</a:t>
            </a:r>
            <a:endParaRPr lang="en-US" sz="1397" dirty="0"/>
          </a:p>
        </p:txBody>
      </p:sp>
      <p:sp>
        <p:nvSpPr>
          <p:cNvPr id="30" name="Text 24"/>
          <p:cNvSpPr/>
          <p:nvPr/>
        </p:nvSpPr>
        <p:spPr>
          <a:xfrm>
            <a:off x="6326684" y="2844412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de données</a:t>
            </a:r>
            <a:endParaRPr lang="en-US" sz="834" dirty="0"/>
          </a:p>
        </p:txBody>
      </p:sp>
      <p:sp>
        <p:nvSpPr>
          <p:cNvPr id="31" name="Text 25"/>
          <p:cNvSpPr/>
          <p:nvPr/>
        </p:nvSpPr>
        <p:spPr>
          <a:xfrm>
            <a:off x="6326684" y="3098713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&amp; Category</a:t>
            </a:r>
            <a:endParaRPr lang="en-US" sz="834" dirty="0"/>
          </a:p>
        </p:txBody>
      </p:sp>
      <p:sp>
        <p:nvSpPr>
          <p:cNvPr id="32" name="Text 26"/>
          <p:cNvSpPr/>
          <p:nvPr/>
        </p:nvSpPr>
        <p:spPr>
          <a:xfrm>
            <a:off x="6326684" y="3353014"/>
            <a:ext cx="2102941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Objets métiers</a:t>
            </a:r>
            <a:endParaRPr lang="en-US" sz="834" dirty="0"/>
          </a:p>
        </p:txBody>
      </p:sp>
      <p:sp>
        <p:nvSpPr>
          <p:cNvPr id="33" name="Text 27"/>
          <p:cNvSpPr/>
          <p:nvPr/>
        </p:nvSpPr>
        <p:spPr>
          <a:xfrm>
            <a:off x="571500" y="4150240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architecture permet une séparation stricte entre l'interface et la logique, facilitant ainsi la maintenance et l'évolution de l'application.</a:t>
            </a:r>
            <a:endParaRPr lang="en-US" sz="942" dirty="0"/>
          </a:p>
        </p:txBody>
      </p:sp>
      <p:sp>
        <p:nvSpPr>
          <p:cNvPr id="34" name="Text 28"/>
          <p:cNvSpPr/>
          <p:nvPr/>
        </p:nvSpPr>
        <p:spPr>
          <a:xfrm>
            <a:off x="6326684" y="2844412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35" name="Text 29"/>
          <p:cNvSpPr/>
          <p:nvPr/>
        </p:nvSpPr>
        <p:spPr>
          <a:xfrm>
            <a:off x="6326684" y="3098713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  <p:sp>
        <p:nvSpPr>
          <p:cNvPr id="36" name="Text 30"/>
          <p:cNvSpPr/>
          <p:nvPr/>
        </p:nvSpPr>
        <p:spPr>
          <a:xfrm>
            <a:off x="6326684" y="3353014"/>
            <a:ext cx="114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Focus Code : Modèles et Services</a:t>
            </a:r>
            <a:endParaRPr lang="en-US" sz="2755" dirty="0"/>
          </a:p>
        </p:txBody>
      </p:sp>
      <p:sp>
        <p:nvSpPr>
          <p:cNvPr id="6" name="Shape 3"/>
          <p:cNvSpPr/>
          <p:nvPr/>
        </p:nvSpPr>
        <p:spPr>
          <a:xfrm>
            <a:off x="571500" y="1665777"/>
            <a:ext cx="3857625" cy="246808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65777"/>
            <a:ext cx="28575" cy="2468082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2043419"/>
            <a:ext cx="225028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2278" y="2010380"/>
            <a:ext cx="160913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Modèles (Models)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750094" y="2419359"/>
            <a:ext cx="350043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C85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Transaction.cs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50094" y="2701537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Définit les propriétés d'un flux (Montant, Date, Type, Catégorie) et gère le formatage pour l'affichage.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750094" y="3187312"/>
            <a:ext cx="350043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C85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Category.cs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750094" y="3469491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Représente les catégories de dépenses/revenus avec leurs icônes et couleurs respectives.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4714875" y="1665777"/>
            <a:ext cx="3857625" cy="281455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4714875" y="1665777"/>
            <a:ext cx="28575" cy="2814554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2043419"/>
            <a:ext cx="200025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0650" y="2010380"/>
            <a:ext cx="76438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C85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Services</a:t>
            </a:r>
            <a:endParaRPr lang="en-US" sz="1397" dirty="0"/>
          </a:p>
        </p:txBody>
      </p:sp>
      <p:sp>
        <p:nvSpPr>
          <p:cNvPr id="18" name="Text 13"/>
          <p:cNvSpPr/>
          <p:nvPr/>
        </p:nvSpPr>
        <p:spPr>
          <a:xfrm>
            <a:off x="4893469" y="2419359"/>
            <a:ext cx="350043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C85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DataService.cs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4893469" y="2701537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cœur de la persistance. Gère le stockage en mémoire, l'ajout de transactions et l'initialisation des données par défaut.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4893469" y="3258750"/>
            <a:ext cx="3500438" cy="1042988"/>
          </a:xfrm>
          <a:prstGeom prst="rect">
            <a:avLst/>
          </a:prstGeom>
          <a:solidFill>
            <a:srgbClr val="FFD700">
              <a:alpha val="5000"/>
            </a:srgbClr>
          </a:solidFill>
          <a:ln w="9144">
            <a:solidFill>
              <a:srgbClr val="FFD700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5036344" y="3515925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technique :</a:t>
            </a:r>
            <a:r>
              <a:rPr lang="en-US" sz="834" i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Utilisation du pattern Singleton pour </a:t>
            </a:r>
            <a:r>
              <a:rPr lang="en-US" sz="834" i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une source de données unique à travers toute </a:t>
            </a:r>
            <a:r>
              <a:rPr lang="en-US" sz="834" i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l'application.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84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Focus Code : ViewModels (Cœur Logique)</a:t>
            </a:r>
            <a:endParaRPr lang="en-US" sz="275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4423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1712630"/>
            <a:ext cx="169842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MainViewModel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571500" y="2101965"/>
            <a:ext cx="389334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dynamique des totaux (Revenus, Dépenses, Solde).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1500" y="2616315"/>
            <a:ext cx="3893344" cy="22860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 de l'historique groupé par mois via LINQ.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1500" y="2902065"/>
            <a:ext cx="389334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jour automatique de l'UI lors de l'ajout de transactions.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0078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0" y="3548993"/>
            <a:ext cx="286107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AddTransactionViewModel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571500" y="3938327"/>
            <a:ext cx="389334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 la saisie utilisateur et validation des montants.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71500" y="4452677"/>
            <a:ext cx="3893344" cy="22860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 dynamique des catégories selon le type de flux.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71500" y="4738427"/>
            <a:ext cx="389334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de navigation après validation de la transaction.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79156" y="1608627"/>
            <a:ext cx="3893344" cy="19681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2"/>
          <p:cNvSpPr/>
          <p:nvPr/>
        </p:nvSpPr>
        <p:spPr>
          <a:xfrm>
            <a:off x="4679156" y="1608627"/>
            <a:ext cx="3893344" cy="1428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8" name="Text 13"/>
          <p:cNvSpPr/>
          <p:nvPr/>
        </p:nvSpPr>
        <p:spPr>
          <a:xfrm>
            <a:off x="4764881" y="1851515"/>
            <a:ext cx="37218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CommunityToolkit.Mvvm</a:t>
            </a:r>
            <a:endParaRPr lang="en-US" sz="1090" dirty="0"/>
          </a:p>
        </p:txBody>
      </p:sp>
      <p:sp>
        <p:nvSpPr>
          <p:cNvPr id="19" name="Text 14"/>
          <p:cNvSpPr/>
          <p:nvPr/>
        </p:nvSpPr>
        <p:spPr>
          <a:xfrm>
            <a:off x="4764881" y="2169412"/>
            <a:ext cx="37218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des générateurs de source pour simplifier le code :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4764881" y="2448018"/>
            <a:ext cx="372189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[ObservableProperty]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Génère automatiquement le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INotifyPropertyChanged.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4764881" y="2962368"/>
            <a:ext cx="3721894" cy="457200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[RelayCommand]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Simplifie la création de 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commandes pour les boutons XAML.</a:t>
            </a:r>
            <a:endParaRPr lang="en-US" sz="987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3803963"/>
            <a:ext cx="200025" cy="200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64906" y="3752171"/>
            <a:ext cx="165020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BaseViewModel</a:t>
            </a:r>
            <a:endParaRPr lang="en-US" sz="1602" dirty="0"/>
          </a:p>
        </p:txBody>
      </p:sp>
      <p:sp>
        <p:nvSpPr>
          <p:cNvPr id="24" name="Text 18"/>
          <p:cNvSpPr/>
          <p:nvPr/>
        </p:nvSpPr>
        <p:spPr>
          <a:xfrm>
            <a:off x="4679156" y="4141505"/>
            <a:ext cx="3893344" cy="22860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Propriétés partagées : IsBusy, Title, NavigationService.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679156" y="4427255"/>
            <a:ext cx="3893344" cy="228600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Garantit une structure cohérente pour tous les écrans.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02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Focus Code : Vues et Helpers</a:t>
            </a:r>
            <a:endParaRPr lang="en-US" sz="275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93023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926943"/>
            <a:ext cx="95547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Vues (UI)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728663" y="2409146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MainPage.xaml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28663" y="2727043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premium utilisant des dégradés et des cartes stylisées pour le solde.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728663" y="3327118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HistoryPage.xaml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728663" y="3645015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Affichage groupé par mois via CollectionView avec en-têtes de section dynamiques.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728663" y="4245090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AppShell.xaml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728663" y="4562987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de la navigation par onglets et enregistrement des routes.</a:t>
            </a:r>
            <a:endParaRPr lang="en-US" sz="942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993023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64919" y="1926943"/>
            <a:ext cx="218777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Helpers &amp; Utilitaires</a:t>
            </a:r>
            <a:endParaRPr lang="en-US" sz="1602" dirty="0"/>
          </a:p>
        </p:txBody>
      </p:sp>
      <p:sp>
        <p:nvSpPr>
          <p:cNvPr id="16" name="Text 11"/>
          <p:cNvSpPr/>
          <p:nvPr/>
        </p:nvSpPr>
        <p:spPr>
          <a:xfrm>
            <a:off x="4943475" y="2409146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TransactionTypeHelper.cs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4943475" y="2727043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 du bug de sélection : conversion robuste des paramètres de commande.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4943475" y="3327118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Styles.xaml</a:t>
            </a:r>
            <a:endParaRPr lang="en-US" sz="1090" dirty="0"/>
          </a:p>
        </p:txBody>
      </p:sp>
      <p:sp>
        <p:nvSpPr>
          <p:cNvPr id="19" name="Text 14"/>
          <p:cNvSpPr/>
          <p:nvPr/>
        </p:nvSpPr>
        <p:spPr>
          <a:xfrm>
            <a:off x="4943475" y="3645015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Centralisation des ressources graphiques (couleurs, polices, styles de boutons).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4943475" y="4245090"/>
            <a:ext cx="36290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MauiProgram.cs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4943475" y="4562987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0A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de l'injection de dépendances pour les ViewModels et Services.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308590"/>
            <a:ext cx="8001000" cy="7144"/>
          </a:xfrm>
          <a:prstGeom prst="rect">
            <a:avLst/>
          </a:prstGeom>
          <a:solidFill>
            <a:srgbClr val="FFF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7084"/>
            <a:ext cx="8001000" cy="628650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755" b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 et Perspectives</a:t>
            </a:r>
            <a:endParaRPr lang="en-US" sz="2755" dirty="0"/>
          </a:p>
        </p:txBody>
      </p:sp>
      <p:sp>
        <p:nvSpPr>
          <p:cNvPr id="6" name="Text 3"/>
          <p:cNvSpPr/>
          <p:nvPr/>
        </p:nvSpPr>
        <p:spPr>
          <a:xfrm>
            <a:off x="571500" y="1879504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 du Projet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228962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MAUI 100% fonctionnelle et robuste.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93293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 approfondie du pattern MVVM et du C#.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957624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premium répondant aux standards actuels.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321955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source propre, structuré et documenté.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86313" y="1879504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C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Perspectives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786313" y="2228962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de graphiques d'analyse (Chart.js).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86313" y="2593293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Synchronisation des données via Firebase/Azure.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86313" y="2957624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Exportation des rapports financiers en PDF/Excel.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6313" y="3321955"/>
            <a:ext cx="3786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intelligentes de rappel de budget.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1500" y="4114912"/>
            <a:ext cx="8001000" cy="9590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4114912"/>
            <a:ext cx="8001000" cy="7144"/>
          </a:xfrm>
          <a:prstGeom prst="rect">
            <a:avLst/>
          </a:prstGeom>
          <a:solidFill>
            <a:srgbClr val="FFF7CC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4600687"/>
            <a:ext cx="800100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i="1" dirty="0">
                <a:solidFill>
                  <a:srgbClr val="FFD7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 pour votre attention.</a:t>
            </a:r>
            <a:endParaRPr lang="en-US" sz="148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2026-04-07T10:46:42Z</dcterms:created>
  <dcterms:modified xsi:type="dcterms:W3CDTF">2026-04-07T10:46:42Z</dcterms:modified>
</cp:coreProperties>
</file>